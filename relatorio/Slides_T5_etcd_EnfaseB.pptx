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mover o slide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&lt;cabeçalho&gt;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7F43DE4-5DD1-4637-96F2-71E994D42884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CAPA — abertura rápida (10s). etcd é um serviço de coordenação que replica estado crítico com o algoritmo Raft. Ênfase B: travas, leases e fencing.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94DB700-6B59-46E2-9D7E-1FC0A5F4FF9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ROTEIRO (20s). Mapa da apresentação: 5 blocos, ~15 min, cada um apresenta uma parte. Tudo é apresentado a partir dos slides (sem demo ao vivo).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9AB1A94-3A3D-4E84-841C-A262DDC3C7B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BLOCO 1 — Rafael (1 min). Qual problema o etcd resolve: coordenar pouco dado, mas crítico. Máquina de estados replicada + consenso. Artigo do Raft; etcd é o cérebro do Kubernetes.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69AD87-46B9-488A-AB57-490EFA03706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BLOCO 2 — Guilherme (~1,5 min). Arquitetura: 3 membros, duas redes (Raft :2380 e clientes :2379). Papéis e replicação total. Apontar líder e seguidores no diagrama.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75A373D-5C05-4C6A-A0FA-ED5632B0E65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BLOCO 2 — Guilherme (~1,5 min). Raft: eleição por maioria com timeout aleatório; termo = relógio de Lamport; revisão = ordem total; ReadIndex; pre-vote e check quorum.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1B74414-F600-4FA3-913A-E38BD9B7E2B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TRANSIÇÃO (10s). Entrada do bloco de experimentos. Para cada experimento: previsão, procedimento, evidência e análise — tudo nos slides.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32920B-E2B7-47B4-AEAE-364CB5B8752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E2 — Rafael (~1,5 min). Um put enviado a um SEGUIDOR é encaminhado ao líder. Evidência: ~2 MB vão ao líder vs 60 B ao outro seguidor; RAFT INDEX sobe nos 3. Apontar a sequência na figura.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8C80AF-73DF-4FEC-928A-190E4C6C136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E3/E4 — Vinícius (~1,5 min). Latências: put ~2,6 ms, leitura linear 1,2 ms, serializável 0,7 ms. Mostrar a evidência do seguidor isolado: linearizável falha, serializável devolve v1 antigo.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F2327BD-9BA7-4DF1-8BB2-4EC836AF4D0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E5/E6 — Rafael (~1,5 min). Eleição em ~1,2 s. Quadro: com 1 de 3, escrita e leitura linearizável falham. Partição: etcd escolhe C (CP); apontar o log 'stepped down ... quorum is not active'.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525E23-41CF-4311-B3E7-7AB52A5101E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E7 — Guilherme (~1,5 min). Recuperação por log ou por snapshot (2,2 MB em ~11 ms), hashkv igual nos 3. Destacar o achado: a recuperação após partição segue o backoff do TCP, não o Raft.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8F55E5B-82D1-49DA-9163-B105003ED0D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ÊNFASE B — Lucas (~1,5 min). Problema: lease vence numa pausa longa, dois donos, atualização perdida. Correção: fencing token = revisão da chave da trava; o recurso rejeita token menor.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0C3755E-DC0F-4CDD-8AE7-D8C9870E067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ÊNFASE B RESULTADO — Lucas (~1,5 min). E9: sem fencing, 5/5 violações; com fencing, 5/5 escritas atrasadas rejeitadas (HTTP 409). Usar a linha do tempo e os tokens da figura.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E63CC2-AEBC-4DC1-9CBC-971B2509DCB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QUADRO-SÍNTESE — Vinícius (1 min). O sistema em uma tabela: consistência, quórum, líder, ordenação, partição e recuperação, cada um com o experimento que sustenta.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C4C9DB-D6FB-4A2A-A7AC-5BCDD736AB3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CONCLUSÕES — Vinícius (1 min). etcd é CP; trava com lease é eficiência e não correção (precisa de fencing); detecção de falhas depende de todas as camadas (TCP no E7). Abrir para perguntas.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975DF8C-1EB4-4E62-906F-843E1902872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ARK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502920" y="641916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5B6472"/>
                </a:solidFill>
                <a:effectLst/>
                <a:uFillTx/>
                <a:latin typeface="Calibri"/>
                <a:ea typeface="Calibri"/>
              </a:rPr>
              <a:t>Trabalho 2  ·  T5 etcd (Raft)  ·  Ênfase B</a:t>
            </a:r>
            <a:endParaRPr lang="pt-B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sldNum" idx="1"/>
          </p:nvPr>
        </p:nvSpPr>
        <p:spPr>
          <a:xfrm>
            <a:off x="116128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5B6472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8FBF36-4942-4F7A-8775-53D61FF0C780}" type="slidenum">
              <a:rPr lang="en-US" sz="1000" b="0" u="none" strike="noStrike">
                <a:solidFill>
                  <a:srgbClr val="5B6472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0"/>
          <p:cNvSpPr/>
          <p:nvPr/>
        </p:nvSpPr>
        <p:spPr>
          <a:xfrm>
            <a:off x="731520" y="1828800"/>
            <a:ext cx="1069812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Replicação de estado com etcd e Raft</a:t>
            </a:r>
            <a:endParaRPr lang="pt-B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749880" y="2880360"/>
            <a:ext cx="10606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Travas distribuídas, leases e fencing tokens na prática</a:t>
            </a:r>
            <a:endParaRPr lang="pt-B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2"/>
          <p:cNvSpPr/>
          <p:nvPr/>
        </p:nvSpPr>
        <p:spPr>
          <a:xfrm>
            <a:off x="749880" y="3520440"/>
            <a:ext cx="106066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E6BC0"/>
                </a:solidFill>
                <a:effectLst/>
                <a:uFillTx/>
                <a:latin typeface="Calibri"/>
                <a:ea typeface="Calibri"/>
              </a:rPr>
              <a:t>Trabalho 2  ·  Tema T5  ·  Ênfase B</a:t>
            </a:r>
            <a:endParaRPr lang="pt-BR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3"/>
          <p:cNvSpPr/>
          <p:nvPr/>
        </p:nvSpPr>
        <p:spPr>
          <a:xfrm>
            <a:off x="749880" y="5029200"/>
            <a:ext cx="10698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Rafael Pinho Medeiros   ·   Guilherme Da Silva Schveitzer   ·   Lucas Bitencourt   ·   Vinicius Faraco Madalena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749880" y="5532120"/>
            <a:ext cx="10698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UNIVALI — Sistemas Distribuídos — Prof. Ramices dos Santos Silva — 2026/2</a:t>
            </a:r>
            <a:endParaRPr lang="pt-BR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0"/>
          <p:cNvSpPr/>
          <p:nvPr/>
        </p:nvSpPr>
        <p:spPr>
          <a:xfrm>
            <a:off x="502920" y="347400"/>
            <a:ext cx="11155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Roteiro da apresentação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"/>
          <p:cNvSpPr/>
          <p:nvPr/>
        </p:nvSpPr>
        <p:spPr>
          <a:xfrm>
            <a:off x="640080" y="1463040"/>
            <a:ext cx="566640" cy="5666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2"/>
          <p:cNvSpPr/>
          <p:nvPr/>
        </p:nvSpPr>
        <p:spPr>
          <a:xfrm>
            <a:off x="640080" y="146304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3"/>
          <p:cNvSpPr/>
          <p:nvPr/>
        </p:nvSpPr>
        <p:spPr>
          <a:xfrm>
            <a:off x="1417320" y="1444680"/>
            <a:ext cx="749772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A2230"/>
                </a:solidFill>
                <a:effectLst/>
                <a:uFillTx/>
                <a:latin typeface="Calibri"/>
                <a:ea typeface="Calibri"/>
              </a:rPr>
              <a:t>O problema, usos e artigo seminal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5"/>
          <p:cNvSpPr/>
          <p:nvPr/>
        </p:nvSpPr>
        <p:spPr>
          <a:xfrm>
            <a:off x="640080" y="2395800"/>
            <a:ext cx="566640" cy="5666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6"/>
          <p:cNvSpPr/>
          <p:nvPr/>
        </p:nvSpPr>
        <p:spPr>
          <a:xfrm>
            <a:off x="640080" y="239580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7"/>
          <p:cNvSpPr/>
          <p:nvPr/>
        </p:nvSpPr>
        <p:spPr>
          <a:xfrm>
            <a:off x="1417320" y="2377440"/>
            <a:ext cx="749772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A2230"/>
                </a:solidFill>
                <a:effectLst/>
                <a:uFillTx/>
                <a:latin typeface="Calibri"/>
                <a:ea typeface="Calibri"/>
              </a:rPr>
              <a:t>Arquitetura, papéis e Raft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9"/>
          <p:cNvSpPr/>
          <p:nvPr/>
        </p:nvSpPr>
        <p:spPr>
          <a:xfrm>
            <a:off x="640080" y="3328560"/>
            <a:ext cx="566640" cy="5666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0"/>
          <p:cNvSpPr/>
          <p:nvPr/>
        </p:nvSpPr>
        <p:spPr>
          <a:xfrm>
            <a:off x="640080" y="332856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1"/>
          <p:cNvSpPr/>
          <p:nvPr/>
        </p:nvSpPr>
        <p:spPr>
          <a:xfrm>
            <a:off x="1417320" y="3310200"/>
            <a:ext cx="749772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A2230"/>
                </a:solidFill>
                <a:effectLst/>
                <a:uFillTx/>
                <a:latin typeface="Calibri"/>
                <a:ea typeface="Calibri"/>
              </a:rPr>
              <a:t>Experimentos: E2 · E3 · E5/E6 · E7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3"/>
          <p:cNvSpPr/>
          <p:nvPr/>
        </p:nvSpPr>
        <p:spPr>
          <a:xfrm>
            <a:off x="640080" y="4260960"/>
            <a:ext cx="566640" cy="5666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4"/>
          <p:cNvSpPr/>
          <p:nvPr/>
        </p:nvSpPr>
        <p:spPr>
          <a:xfrm>
            <a:off x="640080" y="426096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4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5"/>
          <p:cNvSpPr/>
          <p:nvPr/>
        </p:nvSpPr>
        <p:spPr>
          <a:xfrm>
            <a:off x="1417320" y="4242960"/>
            <a:ext cx="749772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A2230"/>
                </a:solidFill>
                <a:effectLst/>
                <a:uFillTx/>
                <a:latin typeface="Calibri"/>
                <a:ea typeface="Calibri"/>
              </a:rPr>
              <a:t>Ênfase B: travas, leases e fencing (E9)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7"/>
          <p:cNvSpPr/>
          <p:nvPr/>
        </p:nvSpPr>
        <p:spPr>
          <a:xfrm>
            <a:off x="640080" y="5193720"/>
            <a:ext cx="566640" cy="566640"/>
          </a:xfrm>
          <a:prstGeom prst="ellipse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8"/>
          <p:cNvSpPr/>
          <p:nvPr/>
        </p:nvSpPr>
        <p:spPr>
          <a:xfrm>
            <a:off x="640080" y="51937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5</a:t>
            </a:r>
            <a:endParaRPr lang="pt-B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9"/>
          <p:cNvSpPr/>
          <p:nvPr/>
        </p:nvSpPr>
        <p:spPr>
          <a:xfrm>
            <a:off x="1417320" y="5175360"/>
            <a:ext cx="7497720" cy="60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1A2230"/>
                </a:solidFill>
                <a:effectLst/>
                <a:uFillTx/>
                <a:latin typeface="Calibri"/>
                <a:ea typeface="Calibri"/>
              </a:rPr>
              <a:t>Quadro-síntese e conclusões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1"/>
          <p:cNvSpPr>
            <a:spLocks noGrp="1"/>
          </p:cNvSpPr>
          <p:nvPr>
            <p:ph type="sldNum" idx="5"/>
          </p:nvPr>
        </p:nvSpPr>
        <p:spPr>
          <a:xfrm>
            <a:off x="116128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5B6472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A1FA7D-882A-41F8-BD55-AEB53DB9D26B}" type="slidenum">
              <a:rPr lang="en-US" sz="1000" b="0" u="none" strike="noStrike">
                <a:solidFill>
                  <a:srgbClr val="5B6472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0"/>
          <p:cNvSpPr/>
          <p:nvPr/>
        </p:nvSpPr>
        <p:spPr>
          <a:xfrm>
            <a:off x="502920" y="347400"/>
            <a:ext cx="11155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O problema: coordenar aplicações distribuídas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"/>
          <p:cNvSpPr/>
          <p:nvPr/>
        </p:nvSpPr>
        <p:spPr>
          <a:xfrm>
            <a:off x="548640" y="1600200"/>
            <a:ext cx="6400440" cy="420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A2230"/>
              </a:buClr>
              <a:buFont typeface="Symbol" charset="2"/>
              <a:buChar char=""/>
            </a:pPr>
            <a:r>
              <a:rPr lang="en-US" sz="1550" b="0" u="none" strike="noStrike">
                <a:solidFill>
                  <a:srgbClr val="1A2230"/>
                </a:solidFill>
                <a:effectLst/>
                <a:uFillTx/>
                <a:latin typeface="Calibri"/>
                <a:ea typeface="Calibri"/>
              </a:rPr>
              <a:t>Várias máquinas precisam concordar sobre pouco dado, mas crítico: quem é o líder, qual a configuração em vigor, quem detém uma trava.</a:t>
            </a:r>
            <a:endParaRPr lang="pt-BR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A2230"/>
              </a:buClr>
              <a:buFont typeface="Symbol" charset="2"/>
              <a:buChar char=""/>
            </a:pPr>
            <a:r>
              <a:rPr lang="en-US" sz="1550" b="0" u="none" strike="noStrike">
                <a:solidFill>
                  <a:srgbClr val="1A2230"/>
                </a:solidFill>
                <a:effectLst/>
                <a:uFillTx/>
                <a:latin typeface="Calibri"/>
                <a:ea typeface="Calibri"/>
              </a:rPr>
              <a:t>Se cada uma tiver a sua versão (ex.: dois líderes), o sistema corrompe dados ou duplica trabalho.</a:t>
            </a:r>
            <a:endParaRPr lang="pt-BR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A2230"/>
              </a:buClr>
              <a:buFont typeface="Symbol" charset="2"/>
              <a:buChar char=""/>
            </a:pPr>
            <a:r>
              <a:rPr lang="en-US" sz="1550" b="0" u="none" strike="noStrike">
                <a:solidFill>
                  <a:srgbClr val="1A2230"/>
                </a:solidFill>
                <a:effectLst/>
                <a:uFillTx/>
                <a:latin typeface="Calibri"/>
                <a:ea typeface="Calibri"/>
              </a:rPr>
              <a:t>Solução: máquina de estados replicada — um log de comandos replicado por consenso e aplicado na mesma ordem em todas as réplicas.</a:t>
            </a:r>
            <a:endParaRPr lang="pt-BR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A2230"/>
              </a:buClr>
              <a:buFont typeface="Symbol" charset="2"/>
              <a:buChar char=""/>
            </a:pPr>
            <a:r>
              <a:rPr lang="en-US" sz="1550" b="0" u="none" strike="noStrike">
                <a:solidFill>
                  <a:srgbClr val="1A2230"/>
                </a:solidFill>
                <a:effectLst/>
                <a:uFillTx/>
                <a:latin typeface="Calibri"/>
                <a:ea typeface="Calibri"/>
              </a:rPr>
              <a:t>O etcd resolve isso com o algoritmo Raft, sem que cada aplicação precise implementar consenso.</a:t>
            </a:r>
            <a:endParaRPr lang="pt-BR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3"/>
          <p:cNvSpPr/>
          <p:nvPr/>
        </p:nvSpPr>
        <p:spPr>
          <a:xfrm>
            <a:off x="7315200" y="1691640"/>
            <a:ext cx="4205880" cy="1234080"/>
          </a:xfrm>
          <a:prstGeom prst="roundRect">
            <a:avLst>
              <a:gd name="adj" fmla="val 5926"/>
            </a:avLst>
          </a:prstGeom>
          <a:solidFill>
            <a:srgbClr val="F2F5FB"/>
          </a:solidFill>
          <a:ln w="12700">
            <a:solidFill>
              <a:srgbClr val="D5DE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4"/>
          <p:cNvSpPr/>
          <p:nvPr/>
        </p:nvSpPr>
        <p:spPr>
          <a:xfrm>
            <a:off x="7406640" y="1801440"/>
            <a:ext cx="4023000" cy="64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etcd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5"/>
          <p:cNvSpPr/>
          <p:nvPr/>
        </p:nvSpPr>
        <p:spPr>
          <a:xfrm>
            <a:off x="7425000" y="2432160"/>
            <a:ext cx="398628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472"/>
                </a:solidFill>
                <a:effectLst/>
                <a:uFillTx/>
                <a:latin typeface="Calibri"/>
                <a:ea typeface="Calibri"/>
              </a:rPr>
              <a:t>O "cérebro" do Kubernetes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6"/>
          <p:cNvSpPr/>
          <p:nvPr/>
        </p:nvSpPr>
        <p:spPr>
          <a:xfrm>
            <a:off x="7315200" y="3154680"/>
            <a:ext cx="4205880" cy="2377080"/>
          </a:xfrm>
          <a:prstGeom prst="roundRect">
            <a:avLst>
              <a:gd name="adj" fmla="val 3077"/>
            </a:avLst>
          </a:prstGeom>
          <a:solidFill>
            <a:srgbClr val="F2F5FB"/>
          </a:solidFill>
          <a:ln w="12700">
            <a:solidFill>
              <a:srgbClr val="D5DE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7"/>
          <p:cNvSpPr/>
          <p:nvPr/>
        </p:nvSpPr>
        <p:spPr>
          <a:xfrm>
            <a:off x="7498080" y="3291840"/>
            <a:ext cx="38401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E6BC0"/>
                </a:solidFill>
                <a:effectLst/>
                <a:uFillTx/>
                <a:latin typeface="Calibri"/>
                <a:ea typeface="Calibri"/>
              </a:rPr>
              <a:t>Artigo seminal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8"/>
          <p:cNvSpPr/>
          <p:nvPr/>
        </p:nvSpPr>
        <p:spPr>
          <a:xfrm>
            <a:off x="7498080" y="3657600"/>
            <a:ext cx="384012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r>
              <a:rPr lang="en-US" sz="1400" b="1" u="none" strike="noStrike">
                <a:solidFill>
                  <a:srgbClr val="1A2230"/>
                </a:solidFill>
                <a:effectLst/>
                <a:uFillTx/>
                <a:latin typeface="Calibri"/>
                <a:ea typeface="Calibri"/>
              </a:rPr>
              <a:t>In Search of an Understandable Consensus Algorithm (Raft)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5B6472"/>
                </a:solidFill>
                <a:effectLst/>
                <a:uFillTx/>
                <a:latin typeface="Calibri"/>
                <a:ea typeface="Calibri"/>
              </a:rPr>
              <a:t>Ongaro &amp; Ousterhout, USENIX ATC, 2014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1"/>
          <p:cNvSpPr>
            <a:spLocks noGrp="1"/>
          </p:cNvSpPr>
          <p:nvPr>
            <p:ph type="sldNum" idx="6"/>
          </p:nvPr>
        </p:nvSpPr>
        <p:spPr>
          <a:xfrm>
            <a:off x="116128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5B6472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7847AE0-C42A-4F23-804C-7F5C07B23539}" type="slidenum">
              <a:rPr lang="en-US" sz="1000" b="0" u="none" strike="noStrike">
                <a:solidFill>
                  <a:srgbClr val="5B6472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 0"/>
          <p:cNvSpPr/>
          <p:nvPr/>
        </p:nvSpPr>
        <p:spPr>
          <a:xfrm>
            <a:off x="502920" y="347400"/>
            <a:ext cx="11155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Arquitetura: três membros, redes separadas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" name="Image 0" descr="/mnt/user-data/uploads/Trabalho2/relatorio/figuras/fig1_arquitetura.png"/>
          <p:cNvPicPr/>
          <p:nvPr/>
        </p:nvPicPr>
        <p:blipFill>
          <a:blip r:embed="rId1"/>
          <a:stretch/>
        </p:blipFill>
        <p:spPr>
          <a:xfrm>
            <a:off x="4663440" y="1508760"/>
            <a:ext cx="7086240" cy="443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Text 2"/>
          <p:cNvSpPr/>
          <p:nvPr/>
        </p:nvSpPr>
        <p:spPr>
          <a:xfrm>
            <a:off x="502920" y="1600200"/>
            <a:ext cx="4023000" cy="429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A223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A2230"/>
                </a:solidFill>
                <a:effectLst/>
                <a:uFillTx/>
                <a:latin typeface="Calibri"/>
                <a:ea typeface="Calibri"/>
              </a:rPr>
              <a:t>Para o cliente: cliente-servidor (chamadas por RPC).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A223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A2230"/>
                </a:solidFill>
                <a:effectLst/>
                <a:uFillTx/>
                <a:latin typeface="Calibri"/>
                <a:ea typeface="Calibri"/>
              </a:rPr>
              <a:t>Internamente: grupo de servidores replicados com líder eleito.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A223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A2230"/>
                </a:solidFill>
                <a:effectLst/>
                <a:uFillTx/>
                <a:latin typeface="Calibri"/>
                <a:ea typeface="Calibri"/>
              </a:rPr>
              <a:t>Papéis: líder, seguidor, (pré-)candidato e learner.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A223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A2230"/>
                </a:solidFill>
                <a:effectLst/>
                <a:uFillTx/>
                <a:latin typeface="Calibri"/>
                <a:ea typeface="Calibri"/>
              </a:rPr>
              <a:t>Replicação total: todos guardam todos os dados (sem particionamento).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A223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A2230"/>
                </a:solidFill>
                <a:effectLst/>
                <a:uFillTx/>
                <a:latin typeface="Calibri"/>
                <a:ea typeface="Calibri"/>
              </a:rPr>
              <a:t>Rede interna (:2380) = Raft; rede de clientes (:2379) = API.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1"/>
          <p:cNvSpPr>
            <a:spLocks noGrp="1"/>
          </p:cNvSpPr>
          <p:nvPr>
            <p:ph type="sldNum" idx="7"/>
          </p:nvPr>
        </p:nvSpPr>
        <p:spPr>
          <a:xfrm>
            <a:off x="116128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5B6472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AC6A302-7EE1-49BF-B60A-30D330651154}" type="slidenum">
              <a:rPr lang="en-US" sz="1000" b="0" u="none" strike="noStrike">
                <a:solidFill>
                  <a:srgbClr val="5B6472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0"/>
          <p:cNvSpPr/>
          <p:nvPr/>
        </p:nvSpPr>
        <p:spPr>
          <a:xfrm>
            <a:off x="502920" y="347400"/>
            <a:ext cx="11155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Raft: eleição, termos e ordem dos eventos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" name="Image 0" descr="/mnt/user-data/uploads/Trabalho2/relatorio/figuras/fig2_estados_raft.png"/>
          <p:cNvPicPr/>
          <p:nvPr/>
        </p:nvPicPr>
        <p:blipFill>
          <a:blip r:embed="rId1"/>
          <a:stretch/>
        </p:blipFill>
        <p:spPr>
          <a:xfrm>
            <a:off x="4480560" y="1965960"/>
            <a:ext cx="7269120" cy="335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Text 2"/>
          <p:cNvSpPr/>
          <p:nvPr/>
        </p:nvSpPr>
        <p:spPr>
          <a:xfrm>
            <a:off x="502920" y="1600200"/>
            <a:ext cx="3840120" cy="420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A223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A2230"/>
                </a:solidFill>
                <a:effectLst/>
                <a:uFillTx/>
                <a:latin typeface="Calibri"/>
                <a:ea typeface="Calibri"/>
              </a:rPr>
              <a:t>Eleição por maioria com timeout aleatório (quebra a simetria).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A223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A2230"/>
                </a:solidFill>
                <a:effectLst/>
                <a:uFillTx/>
                <a:latin typeface="Calibri"/>
                <a:ea typeface="Calibri"/>
              </a:rPr>
              <a:t>Termo = época de liderança; funciona como relógio de Lamport.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A223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A2230"/>
                </a:solidFill>
                <a:effectLst/>
                <a:uFillTx/>
                <a:latin typeface="Calibri"/>
                <a:ea typeface="Calibri"/>
              </a:rPr>
              <a:t>Revisão = ordem total das escritas (sequenciador trocável).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A223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A2230"/>
                </a:solidFill>
                <a:effectLst/>
                <a:uFillTx/>
                <a:latin typeface="Calibri"/>
                <a:ea typeface="Calibri"/>
              </a:rPr>
              <a:t>Leitura linearizável usa ReadIndex: confirma liderança sem gravar no disco.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A223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A2230"/>
                </a:solidFill>
                <a:effectLst/>
                <a:uFillTx/>
                <a:latin typeface="Calibri"/>
                <a:ea typeface="Calibri"/>
              </a:rPr>
              <a:t>pre-vote e check quorum protegem o cluster no retorno de um nó.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1"/>
          <p:cNvSpPr>
            <a:spLocks noGrp="1"/>
          </p:cNvSpPr>
          <p:nvPr>
            <p:ph type="sldNum" idx="8"/>
          </p:nvPr>
        </p:nvSpPr>
        <p:spPr>
          <a:xfrm>
            <a:off x="116128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5B6472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1D0D15-2B28-4C10-9B22-7F53B70BC272}" type="slidenum">
              <a:rPr lang="en-US" sz="1000" b="0" u="none" strike="noStrike">
                <a:solidFill>
                  <a:srgbClr val="5B6472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0"/>
          <p:cNvSpPr/>
          <p:nvPr/>
        </p:nvSpPr>
        <p:spPr>
          <a:xfrm>
            <a:off x="731520" y="2194560"/>
            <a:ext cx="106981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Experimentos: da subida à recuperação</a:t>
            </a:r>
            <a:endParaRPr lang="pt-BR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"/>
          <p:cNvSpPr/>
          <p:nvPr/>
        </p:nvSpPr>
        <p:spPr>
          <a:xfrm>
            <a:off x="749880" y="3383280"/>
            <a:ext cx="10698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E2  caminho de uma escrita     →     E3  replicação e consistência     →     E5/E6  falha e partição     →     E7  recuperação</a:t>
            </a:r>
            <a:endParaRPr lang="pt-B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"/>
          <p:cNvSpPr/>
          <p:nvPr/>
        </p:nvSpPr>
        <p:spPr>
          <a:xfrm>
            <a:off x="749880" y="4389120"/>
            <a:ext cx="106981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i="1" u="none" strike="noStrike">
                <a:solidFill>
                  <a:srgbClr val="2E6BC0"/>
                </a:solidFill>
                <a:effectLst/>
                <a:uFillTx/>
                <a:latin typeface="Calibri"/>
                <a:ea typeface="Calibri"/>
              </a:rPr>
              <a:t>Para cada um: previsão da equipe → procedimento → evidência → análise</a:t>
            </a:r>
            <a:endParaRPr lang="pt-BR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0"/>
          <p:cNvSpPr/>
          <p:nvPr/>
        </p:nvSpPr>
        <p:spPr>
          <a:xfrm>
            <a:off x="502920" y="347400"/>
            <a:ext cx="11155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E2 — Caminho de uma escrita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" name="Image 0" descr="/mnt/user-data/uploads/Trabalho2/relatorio/figuras/fig3_sequencia_escrita.png"/>
          <p:cNvPicPr/>
          <p:nvPr/>
        </p:nvPicPr>
        <p:blipFill>
          <a:blip r:embed="rId1"/>
          <a:stretch/>
        </p:blipFill>
        <p:spPr>
          <a:xfrm>
            <a:off x="4572000" y="1783080"/>
            <a:ext cx="7223400" cy="4381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Text 2"/>
          <p:cNvSpPr/>
          <p:nvPr/>
        </p:nvSpPr>
        <p:spPr>
          <a:xfrm>
            <a:off x="502920" y="1691640"/>
            <a:ext cx="393156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A223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A2230"/>
                </a:solidFill>
                <a:effectLst/>
                <a:uFillTx/>
                <a:latin typeface="Calibri"/>
                <a:ea typeface="Calibri"/>
              </a:rPr>
              <a:t>Cliente → seguidor → líder (encaminha a proposta).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A223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A2230"/>
                </a:solidFill>
                <a:effectLst/>
                <a:uFillTx/>
                <a:latin typeface="Calibri"/>
                <a:ea typeface="Calibri"/>
              </a:rPr>
              <a:t>Líder grava no WAL e envia AppendEntries.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A223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A2230"/>
                </a:solidFill>
                <a:effectLst/>
                <a:uFillTx/>
                <a:latin typeface="Calibri"/>
                <a:ea typeface="Calibri"/>
              </a:rPr>
              <a:t>Commit com a maioria (2 de 3) → aplica e responde.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3"/>
          <p:cNvSpPr/>
          <p:nvPr/>
        </p:nvSpPr>
        <p:spPr>
          <a:xfrm>
            <a:off x="502920" y="4617720"/>
            <a:ext cx="3931560" cy="1234080"/>
          </a:xfrm>
          <a:prstGeom prst="roundRect">
            <a:avLst>
              <a:gd name="adj" fmla="val 5926"/>
            </a:avLst>
          </a:prstGeom>
          <a:solidFill>
            <a:srgbClr val="F2F5FB"/>
          </a:solidFill>
          <a:ln w="12700">
            <a:solidFill>
              <a:srgbClr val="D5DE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4"/>
          <p:cNvSpPr/>
          <p:nvPr/>
        </p:nvSpPr>
        <p:spPr>
          <a:xfrm>
            <a:off x="594360" y="4727520"/>
            <a:ext cx="3748680" cy="64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≈ 2 MB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5"/>
          <p:cNvSpPr/>
          <p:nvPr/>
        </p:nvSpPr>
        <p:spPr>
          <a:xfrm>
            <a:off x="612720" y="5358240"/>
            <a:ext cx="371196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472"/>
                </a:solidFill>
                <a:effectLst/>
                <a:uFillTx/>
                <a:latin typeface="Calibri"/>
                <a:ea typeface="Calibri"/>
              </a:rPr>
              <a:t>enviados ao líder vs. 60 B ao outro seguidor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1"/>
          <p:cNvSpPr>
            <a:spLocks noGrp="1"/>
          </p:cNvSpPr>
          <p:nvPr>
            <p:ph type="sldNum" idx="9"/>
          </p:nvPr>
        </p:nvSpPr>
        <p:spPr>
          <a:xfrm>
            <a:off x="116128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5B6472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59F99E2-C9CE-452C-BB77-907ACA3B84FD}" type="slidenum">
              <a:rPr lang="en-US" sz="1000" b="0" u="none" strike="noStrike">
                <a:solidFill>
                  <a:srgbClr val="5B6472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 0"/>
          <p:cNvSpPr/>
          <p:nvPr/>
        </p:nvSpPr>
        <p:spPr>
          <a:xfrm>
            <a:off x="502920" y="347400"/>
            <a:ext cx="11155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E3 / E4 — Replicação e consistência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2"/>
          <p:cNvSpPr/>
          <p:nvPr/>
        </p:nvSpPr>
        <p:spPr>
          <a:xfrm>
            <a:off x="502920" y="1737360"/>
            <a:ext cx="3565800" cy="1371240"/>
          </a:xfrm>
          <a:prstGeom prst="roundRect">
            <a:avLst>
              <a:gd name="adj" fmla="val 5333"/>
            </a:avLst>
          </a:prstGeom>
          <a:solidFill>
            <a:srgbClr val="F2F5FB"/>
          </a:solidFill>
          <a:ln w="12700">
            <a:solidFill>
              <a:srgbClr val="D5DE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3"/>
          <p:cNvSpPr/>
          <p:nvPr/>
        </p:nvSpPr>
        <p:spPr>
          <a:xfrm>
            <a:off x="594360" y="1847160"/>
            <a:ext cx="338292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2,6 ms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4"/>
          <p:cNvSpPr/>
          <p:nvPr/>
        </p:nvSpPr>
        <p:spPr>
          <a:xfrm>
            <a:off x="612720" y="2560320"/>
            <a:ext cx="3346200" cy="4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472"/>
                </a:solidFill>
                <a:effectLst/>
                <a:uFillTx/>
                <a:latin typeface="Calibri"/>
                <a:ea typeface="Calibri"/>
              </a:rPr>
              <a:t>escrita (líder) · fsync em 2 membros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5"/>
          <p:cNvSpPr/>
          <p:nvPr/>
        </p:nvSpPr>
        <p:spPr>
          <a:xfrm>
            <a:off x="4251960" y="1737360"/>
            <a:ext cx="3565800" cy="1371240"/>
          </a:xfrm>
          <a:prstGeom prst="roundRect">
            <a:avLst>
              <a:gd name="adj" fmla="val 5333"/>
            </a:avLst>
          </a:prstGeom>
          <a:solidFill>
            <a:srgbClr val="F2F5FB"/>
          </a:solidFill>
          <a:ln w="12700">
            <a:solidFill>
              <a:srgbClr val="D5DE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6"/>
          <p:cNvSpPr/>
          <p:nvPr/>
        </p:nvSpPr>
        <p:spPr>
          <a:xfrm>
            <a:off x="4343400" y="1847160"/>
            <a:ext cx="338292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1,2 ms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7"/>
          <p:cNvSpPr/>
          <p:nvPr/>
        </p:nvSpPr>
        <p:spPr>
          <a:xfrm>
            <a:off x="4361760" y="2560320"/>
            <a:ext cx="3346200" cy="4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472"/>
                </a:solidFill>
                <a:effectLst/>
                <a:uFillTx/>
                <a:latin typeface="Calibri"/>
                <a:ea typeface="Calibri"/>
              </a:rPr>
              <a:t>leitura linearizável (ReadIndex)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8"/>
          <p:cNvSpPr/>
          <p:nvPr/>
        </p:nvSpPr>
        <p:spPr>
          <a:xfrm>
            <a:off x="8001000" y="1737360"/>
            <a:ext cx="3565800" cy="1371240"/>
          </a:xfrm>
          <a:prstGeom prst="roundRect">
            <a:avLst>
              <a:gd name="adj" fmla="val 5333"/>
            </a:avLst>
          </a:prstGeom>
          <a:solidFill>
            <a:srgbClr val="F2F5FB"/>
          </a:solidFill>
          <a:ln w="12700">
            <a:solidFill>
              <a:srgbClr val="D5DE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9"/>
          <p:cNvSpPr/>
          <p:nvPr/>
        </p:nvSpPr>
        <p:spPr>
          <a:xfrm>
            <a:off x="8092440" y="1847160"/>
            <a:ext cx="338292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0,7 ms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0"/>
          <p:cNvSpPr/>
          <p:nvPr/>
        </p:nvSpPr>
        <p:spPr>
          <a:xfrm>
            <a:off x="8110800" y="2560320"/>
            <a:ext cx="3346200" cy="4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472"/>
                </a:solidFill>
                <a:effectLst/>
                <a:uFillTx/>
                <a:latin typeface="Calibri"/>
                <a:ea typeface="Calibri"/>
              </a:rPr>
              <a:t>leitura serializável (local)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1"/>
          <p:cNvSpPr/>
          <p:nvPr/>
        </p:nvSpPr>
        <p:spPr>
          <a:xfrm>
            <a:off x="502920" y="3429000"/>
            <a:ext cx="110638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A223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A2230"/>
                </a:solidFill>
                <a:effectLst/>
                <a:uFillTx/>
                <a:latin typeface="Calibri"/>
                <a:ea typeface="Calibri"/>
              </a:rPr>
              <a:t>Linearizável (padrão): sempre reflete a última escrita confirmada — no seguidor isolado, prefere falhar a devolver dado velho.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A223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A2230"/>
                </a:solidFill>
                <a:effectLst/>
                <a:uFillTx/>
                <a:latin typeface="Calibri"/>
                <a:ea typeface="Calibri"/>
              </a:rPr>
              <a:t>Serializável: responde do estado local, mais rápida, mas pode estar atrasada durante uma partição.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A2230"/>
              </a:buClr>
              <a:buFont typeface="Symbol" charset="2"/>
              <a:buChar char=""/>
            </a:pPr>
            <a:r>
              <a:rPr lang="en-US" sz="1500" b="0" u="none" strike="noStrike">
                <a:solidFill>
                  <a:srgbClr val="1A2230"/>
                </a:solidFill>
                <a:effectLst/>
                <a:uFillTx/>
                <a:latin typeface="Calibri"/>
                <a:ea typeface="Calibri"/>
              </a:rPr>
              <a:t>Watch replica a escrita aos demais membros em ≈ 4 ms.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12"/>
          <p:cNvSpPr/>
          <p:nvPr/>
        </p:nvSpPr>
        <p:spPr>
          <a:xfrm>
            <a:off x="502920" y="4617720"/>
            <a:ext cx="11063880" cy="1234080"/>
          </a:xfrm>
          <a:prstGeom prst="roundRect">
            <a:avLst>
              <a:gd name="adj" fmla="val 5926"/>
            </a:avLst>
          </a:prstGeom>
          <a:solidFill>
            <a:srgbClr val="F2F5FB"/>
          </a:solidFill>
          <a:ln w="12700">
            <a:solidFill>
              <a:srgbClr val="D5DE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3"/>
          <p:cNvSpPr/>
          <p:nvPr/>
        </p:nvSpPr>
        <p:spPr>
          <a:xfrm>
            <a:off x="731520" y="4736520"/>
            <a:ext cx="10606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E6BC0"/>
                </a:solidFill>
                <a:effectLst/>
                <a:uFillTx/>
                <a:latin typeface="Calibri"/>
                <a:ea typeface="Calibri"/>
              </a:rPr>
              <a:t>Evidência (E4) — seguidor etcd2 isolado, após put v2 e v3 pelo líder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4"/>
          <p:cNvSpPr/>
          <p:nvPr/>
        </p:nvSpPr>
        <p:spPr>
          <a:xfrm>
            <a:off x="731520" y="5139000"/>
            <a:ext cx="106066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C0392B"/>
                </a:solidFill>
                <a:effectLst/>
                <a:uFillTx/>
                <a:latin typeface="Consolas"/>
                <a:ea typeface="Consolas"/>
              </a:rPr>
              <a:t>leitura linearizável  →  context deadline exceeded          </a:t>
            </a:r>
            <a:r>
              <a:rPr lang="en-US" sz="1350" b="0" u="none" strike="noStrike">
                <a:solidFill>
                  <a:srgbClr val="1A2230"/>
                </a:solidFill>
                <a:effectLst/>
                <a:uFillTx/>
                <a:latin typeface="Consolas"/>
                <a:ea typeface="Consolas"/>
              </a:rPr>
              <a:t>leitura serializável  →  v1 (valor antigo)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1"/>
          <p:cNvSpPr>
            <a:spLocks noGrp="1"/>
          </p:cNvSpPr>
          <p:nvPr>
            <p:ph type="sldNum" idx="10"/>
          </p:nvPr>
        </p:nvSpPr>
        <p:spPr>
          <a:xfrm>
            <a:off x="116128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5B6472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8C0073-0386-440B-B5A5-22398A190B65}" type="slidenum">
              <a:rPr lang="en-US" sz="1000" b="0" u="none" strike="noStrike">
                <a:solidFill>
                  <a:srgbClr val="5B6472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 0"/>
          <p:cNvSpPr/>
          <p:nvPr/>
        </p:nvSpPr>
        <p:spPr>
          <a:xfrm>
            <a:off x="502920" y="347400"/>
            <a:ext cx="11155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E5 / E6 — Falha, quórum e partição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2"/>
          <p:cNvSpPr/>
          <p:nvPr/>
        </p:nvSpPr>
        <p:spPr>
          <a:xfrm>
            <a:off x="502920" y="1737360"/>
            <a:ext cx="3474360" cy="1371240"/>
          </a:xfrm>
          <a:prstGeom prst="roundRect">
            <a:avLst>
              <a:gd name="adj" fmla="val 5333"/>
            </a:avLst>
          </a:prstGeom>
          <a:solidFill>
            <a:srgbClr val="F2F5FB"/>
          </a:solidFill>
          <a:ln w="12700">
            <a:solidFill>
              <a:srgbClr val="D5DE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3"/>
          <p:cNvSpPr/>
          <p:nvPr/>
        </p:nvSpPr>
        <p:spPr>
          <a:xfrm>
            <a:off x="594360" y="1847160"/>
            <a:ext cx="329148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1216 ± 364 ms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4"/>
          <p:cNvSpPr/>
          <p:nvPr/>
        </p:nvSpPr>
        <p:spPr>
          <a:xfrm>
            <a:off x="612720" y="2560320"/>
            <a:ext cx="3254760" cy="4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472"/>
                </a:solidFill>
                <a:effectLst/>
                <a:uFillTx/>
                <a:latin typeface="Calibri"/>
                <a:ea typeface="Calibri"/>
              </a:rPr>
              <a:t>eleição de novo líder após a queda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5"/>
          <p:cNvSpPr/>
          <p:nvPr/>
        </p:nvSpPr>
        <p:spPr>
          <a:xfrm>
            <a:off x="4297680" y="169164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E6BC0"/>
                </a:solidFill>
                <a:effectLst/>
                <a:uFillTx/>
                <a:latin typeface="Calibri"/>
                <a:ea typeface="Calibri"/>
              </a:rPr>
              <a:t>Disponibilidade por nº de membros ativos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3" name="Table 0"/>
          <p:cNvGraphicFramePr/>
          <p:nvPr/>
        </p:nvGraphicFramePr>
        <p:xfrm>
          <a:off x="4297680" y="2057400"/>
          <a:ext cx="7406280" cy="1535760"/>
        </p:xfrm>
        <a:graphic>
          <a:graphicData uri="http://schemas.openxmlformats.org/drawingml/2006/table">
            <a:tbl>
              <a:tblPr/>
              <a:tblGrid>
                <a:gridCol w="1851480"/>
                <a:gridCol w="1851480"/>
                <a:gridCol w="1851480"/>
                <a:gridCol w="1851480"/>
              </a:tblGrid>
              <a:tr h="383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Membros</a:t>
                      </a:r>
                      <a:endParaRPr lang="pt-BR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5DEEF"/>
                      </a:solidFill>
                      <a:prstDash val="solid"/>
                    </a:lnL>
                    <a:lnR w="12240">
                      <a:solidFill>
                        <a:srgbClr val="D5DEEF"/>
                      </a:solidFill>
                      <a:prstDash val="solid"/>
                    </a:lnR>
                    <a:lnT w="12240">
                      <a:solidFill>
                        <a:srgbClr val="D5DEEF"/>
                      </a:solidFill>
                      <a:prstDash val="solid"/>
                    </a:lnT>
                    <a:lnB w="12240">
                      <a:solidFill>
                        <a:srgbClr val="D5DEEF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Linearizável</a:t>
                      </a:r>
                      <a:endParaRPr lang="pt-BR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5DEEF"/>
                      </a:solidFill>
                      <a:prstDash val="solid"/>
                    </a:lnL>
                    <a:lnR w="12240">
                      <a:solidFill>
                        <a:srgbClr val="D5DEEF"/>
                      </a:solidFill>
                      <a:prstDash val="solid"/>
                    </a:lnR>
                    <a:lnT w="12240">
                      <a:solidFill>
                        <a:srgbClr val="D5DEEF"/>
                      </a:solidFill>
                      <a:prstDash val="solid"/>
                    </a:lnT>
                    <a:lnB w="12240">
                      <a:solidFill>
                        <a:srgbClr val="D5DEEF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Serializável</a:t>
                      </a:r>
                      <a:endParaRPr lang="pt-BR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5DEEF"/>
                      </a:solidFill>
                      <a:prstDash val="solid"/>
                    </a:lnL>
                    <a:lnR w="12240">
                      <a:solidFill>
                        <a:srgbClr val="D5DEEF"/>
                      </a:solidFill>
                      <a:prstDash val="solid"/>
                    </a:lnR>
                    <a:lnT w="12240">
                      <a:solidFill>
                        <a:srgbClr val="D5DEEF"/>
                      </a:solidFill>
                      <a:prstDash val="solid"/>
                    </a:lnT>
                    <a:lnB w="12240">
                      <a:solidFill>
                        <a:srgbClr val="D5DEEF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Escrita</a:t>
                      </a:r>
                      <a:endParaRPr lang="pt-BR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5DEEF"/>
                      </a:solidFill>
                      <a:prstDash val="solid"/>
                    </a:lnL>
                    <a:lnR w="12240">
                      <a:solidFill>
                        <a:srgbClr val="D5DEEF"/>
                      </a:solidFill>
                      <a:prstDash val="solid"/>
                    </a:lnR>
                    <a:lnT w="12240">
                      <a:solidFill>
                        <a:srgbClr val="D5DEEF"/>
                      </a:solidFill>
                      <a:prstDash val="solid"/>
                    </a:lnT>
                    <a:lnB w="12240">
                      <a:solidFill>
                        <a:srgbClr val="D5DEEF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1A223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 de 3</a:t>
                      </a:r>
                      <a:endParaRPr lang="pt-B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5DEEF"/>
                      </a:solidFill>
                      <a:prstDash val="solid"/>
                    </a:lnL>
                    <a:lnR w="12240">
                      <a:solidFill>
                        <a:srgbClr val="D5DEEF"/>
                      </a:solidFill>
                      <a:prstDash val="solid"/>
                    </a:lnR>
                    <a:lnT w="12240">
                      <a:solidFill>
                        <a:srgbClr val="D5DEEF"/>
                      </a:solidFill>
                      <a:prstDash val="solid"/>
                    </a:lnT>
                    <a:lnB w="12240">
                      <a:solidFill>
                        <a:srgbClr val="D5DE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1A223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OK</a:t>
                      </a:r>
                      <a:endParaRPr lang="pt-B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5DEEF"/>
                      </a:solidFill>
                      <a:prstDash val="solid"/>
                    </a:lnL>
                    <a:lnR w="12240">
                      <a:solidFill>
                        <a:srgbClr val="D5DEEF"/>
                      </a:solidFill>
                      <a:prstDash val="solid"/>
                    </a:lnR>
                    <a:lnT w="12240">
                      <a:solidFill>
                        <a:srgbClr val="D5DEEF"/>
                      </a:solidFill>
                      <a:prstDash val="solid"/>
                    </a:lnT>
                    <a:lnB w="12240">
                      <a:solidFill>
                        <a:srgbClr val="D5DE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1A223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OK</a:t>
                      </a:r>
                      <a:endParaRPr lang="pt-B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5DEEF"/>
                      </a:solidFill>
                      <a:prstDash val="solid"/>
                    </a:lnL>
                    <a:lnR w="12240">
                      <a:solidFill>
                        <a:srgbClr val="D5DEEF"/>
                      </a:solidFill>
                      <a:prstDash val="solid"/>
                    </a:lnR>
                    <a:lnT w="12240">
                      <a:solidFill>
                        <a:srgbClr val="D5DEEF"/>
                      </a:solidFill>
                      <a:prstDash val="solid"/>
                    </a:lnT>
                    <a:lnB w="12240">
                      <a:solidFill>
                        <a:srgbClr val="D5DE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1A223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OK</a:t>
                      </a:r>
                      <a:endParaRPr lang="pt-B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5DEEF"/>
                      </a:solidFill>
                      <a:prstDash val="solid"/>
                    </a:lnL>
                    <a:lnR w="12240">
                      <a:solidFill>
                        <a:srgbClr val="D5DEEF"/>
                      </a:solidFill>
                      <a:prstDash val="solid"/>
                    </a:lnR>
                    <a:lnT w="12240">
                      <a:solidFill>
                        <a:srgbClr val="D5DEEF"/>
                      </a:solidFill>
                      <a:prstDash val="solid"/>
                    </a:lnT>
                    <a:lnB w="12240">
                      <a:solidFill>
                        <a:srgbClr val="D5DEEF"/>
                      </a:solidFill>
                      <a:prstDash val="solid"/>
                    </a:lnB>
                    <a:noFill/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1A223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 de 3</a:t>
                      </a:r>
                      <a:endParaRPr lang="pt-B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5DEEF"/>
                      </a:solidFill>
                      <a:prstDash val="solid"/>
                    </a:lnL>
                    <a:lnR w="12240">
                      <a:solidFill>
                        <a:srgbClr val="D5DEEF"/>
                      </a:solidFill>
                      <a:prstDash val="solid"/>
                    </a:lnR>
                    <a:lnT w="12240">
                      <a:solidFill>
                        <a:srgbClr val="D5DEEF"/>
                      </a:solidFill>
                      <a:prstDash val="solid"/>
                    </a:lnT>
                    <a:lnB w="12240">
                      <a:solidFill>
                        <a:srgbClr val="D5DE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1A223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OK</a:t>
                      </a:r>
                      <a:endParaRPr lang="pt-B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5DEEF"/>
                      </a:solidFill>
                      <a:prstDash val="solid"/>
                    </a:lnL>
                    <a:lnR w="12240">
                      <a:solidFill>
                        <a:srgbClr val="D5DEEF"/>
                      </a:solidFill>
                      <a:prstDash val="solid"/>
                    </a:lnR>
                    <a:lnT w="12240">
                      <a:solidFill>
                        <a:srgbClr val="D5DEEF"/>
                      </a:solidFill>
                      <a:prstDash val="solid"/>
                    </a:lnT>
                    <a:lnB w="12240">
                      <a:solidFill>
                        <a:srgbClr val="D5DE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1A223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OK</a:t>
                      </a:r>
                      <a:endParaRPr lang="pt-B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5DEEF"/>
                      </a:solidFill>
                      <a:prstDash val="solid"/>
                    </a:lnL>
                    <a:lnR w="12240">
                      <a:solidFill>
                        <a:srgbClr val="D5DEEF"/>
                      </a:solidFill>
                      <a:prstDash val="solid"/>
                    </a:lnR>
                    <a:lnT w="12240">
                      <a:solidFill>
                        <a:srgbClr val="D5DEEF"/>
                      </a:solidFill>
                      <a:prstDash val="solid"/>
                    </a:lnT>
                    <a:lnB w="12240">
                      <a:solidFill>
                        <a:srgbClr val="D5DE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1A223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OK</a:t>
                      </a:r>
                      <a:endParaRPr lang="pt-B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5DEEF"/>
                      </a:solidFill>
                      <a:prstDash val="solid"/>
                    </a:lnL>
                    <a:lnR w="12240">
                      <a:solidFill>
                        <a:srgbClr val="D5DEEF"/>
                      </a:solidFill>
                      <a:prstDash val="solid"/>
                    </a:lnR>
                    <a:lnT w="12240">
                      <a:solidFill>
                        <a:srgbClr val="D5DEEF"/>
                      </a:solidFill>
                      <a:prstDash val="solid"/>
                    </a:lnT>
                    <a:lnB w="12240">
                      <a:solidFill>
                        <a:srgbClr val="D5DEEF"/>
                      </a:solidFill>
                      <a:prstDash val="solid"/>
                    </a:lnB>
                    <a:noFill/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1" u="none" strike="noStrike">
                          <a:solidFill>
                            <a:srgbClr val="1A223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 de 3</a:t>
                      </a:r>
                      <a:endParaRPr lang="pt-B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5DEEF"/>
                      </a:solidFill>
                      <a:prstDash val="solid"/>
                    </a:lnL>
                    <a:lnR w="12240">
                      <a:solidFill>
                        <a:srgbClr val="D5DEEF"/>
                      </a:solidFill>
                      <a:prstDash val="solid"/>
                    </a:lnR>
                    <a:lnT w="12240">
                      <a:solidFill>
                        <a:srgbClr val="D5DEEF"/>
                      </a:solidFill>
                      <a:prstDash val="solid"/>
                    </a:lnT>
                    <a:lnB w="12240">
                      <a:solidFill>
                        <a:srgbClr val="D5DE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1" u="none" strike="noStrike">
                          <a:solidFill>
                            <a:srgbClr val="C0392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falha</a:t>
                      </a:r>
                      <a:endParaRPr lang="pt-B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5DEEF"/>
                      </a:solidFill>
                      <a:prstDash val="solid"/>
                    </a:lnL>
                    <a:lnR w="12240">
                      <a:solidFill>
                        <a:srgbClr val="D5DEEF"/>
                      </a:solidFill>
                      <a:prstDash val="solid"/>
                    </a:lnR>
                    <a:lnT w="12240">
                      <a:solidFill>
                        <a:srgbClr val="D5DEEF"/>
                      </a:solidFill>
                      <a:prstDash val="solid"/>
                    </a:lnT>
                    <a:lnB w="12240">
                      <a:solidFill>
                        <a:srgbClr val="D5DE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0" u="none" strike="noStrike">
                          <a:solidFill>
                            <a:srgbClr val="1E8E6E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OK</a:t>
                      </a:r>
                      <a:endParaRPr lang="pt-B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5DEEF"/>
                      </a:solidFill>
                      <a:prstDash val="solid"/>
                    </a:lnL>
                    <a:lnR w="12240">
                      <a:solidFill>
                        <a:srgbClr val="D5DEEF"/>
                      </a:solidFill>
                      <a:prstDash val="solid"/>
                    </a:lnR>
                    <a:lnT w="12240">
                      <a:solidFill>
                        <a:srgbClr val="D5DEEF"/>
                      </a:solidFill>
                      <a:prstDash val="solid"/>
                    </a:lnT>
                    <a:lnB w="12240">
                      <a:solidFill>
                        <a:srgbClr val="D5DEEF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50" b="1" u="none" strike="noStrike">
                          <a:solidFill>
                            <a:srgbClr val="C0392B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falha</a:t>
                      </a:r>
                      <a:endParaRPr lang="pt-BR" sz="13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D5DEEF"/>
                      </a:solidFill>
                      <a:prstDash val="solid"/>
                    </a:lnL>
                    <a:lnR w="12240">
                      <a:solidFill>
                        <a:srgbClr val="D5DEEF"/>
                      </a:solidFill>
                      <a:prstDash val="solid"/>
                    </a:lnR>
                    <a:lnT w="12240">
                      <a:solidFill>
                        <a:srgbClr val="D5DEEF"/>
                      </a:solidFill>
                      <a:prstDash val="solid"/>
                    </a:lnT>
                    <a:lnB w="12240">
                      <a:solidFill>
                        <a:srgbClr val="D5DEE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4" name="Text 6"/>
          <p:cNvSpPr/>
          <p:nvPr/>
        </p:nvSpPr>
        <p:spPr>
          <a:xfrm>
            <a:off x="502920" y="3310200"/>
            <a:ext cx="3565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E6BC0"/>
                </a:solidFill>
                <a:effectLst/>
                <a:uFillTx/>
                <a:latin typeface="Calibri"/>
                <a:ea typeface="Calibri"/>
              </a:rPr>
              <a:t>Log do antigo líder (E6):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7"/>
          <p:cNvSpPr/>
          <p:nvPr/>
        </p:nvSpPr>
        <p:spPr>
          <a:xfrm>
            <a:off x="502920" y="3639240"/>
            <a:ext cx="35658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2230"/>
                </a:solidFill>
                <a:effectLst/>
                <a:uFillTx/>
                <a:latin typeface="Consolas"/>
                <a:ea typeface="Consolas"/>
              </a:rPr>
              <a:t>stepped down to follower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2230"/>
                </a:solidFill>
                <a:effectLst/>
                <a:uFillTx/>
                <a:latin typeface="Consolas"/>
                <a:ea typeface="Consolas"/>
              </a:rPr>
              <a:t>since quorum is not active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8"/>
          <p:cNvSpPr/>
          <p:nvPr/>
        </p:nvSpPr>
        <p:spPr>
          <a:xfrm>
            <a:off x="502920" y="4343400"/>
            <a:ext cx="11201040" cy="1371240"/>
          </a:xfrm>
          <a:prstGeom prst="roundRect">
            <a:avLst>
              <a:gd name="adj" fmla="val 5333"/>
            </a:avLst>
          </a:prstGeom>
          <a:solidFill>
            <a:srgbClr val="F2F5FB"/>
          </a:solidFill>
          <a:ln w="12700">
            <a:solidFill>
              <a:srgbClr val="D5DE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9"/>
          <p:cNvSpPr/>
          <p:nvPr/>
        </p:nvSpPr>
        <p:spPr>
          <a:xfrm>
            <a:off x="731520" y="4480560"/>
            <a:ext cx="107438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Diante de uma partição, o etcd escolhe Consistência (CP).  </a:t>
            </a:r>
            <a:r>
              <a:rPr lang="en-US" sz="1500" b="0" u="none" strike="noStrike">
                <a:solidFill>
                  <a:srgbClr val="1A2230"/>
                </a:solidFill>
                <a:effectLst/>
                <a:uFillTx/>
                <a:latin typeface="Calibri"/>
                <a:ea typeface="Calibri"/>
              </a:rPr>
              <a:t>O lado minoritário recusa escrita e leitura linearizável; o antigo líder renuncia (check quorum) e não infla o termo (pre-vote).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1"/>
          <p:cNvSpPr>
            <a:spLocks noGrp="1"/>
          </p:cNvSpPr>
          <p:nvPr>
            <p:ph type="sldNum" idx="11"/>
          </p:nvPr>
        </p:nvSpPr>
        <p:spPr>
          <a:xfrm>
            <a:off x="116128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5B6472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859AEA0-13AF-48F1-93ED-943011C13969}" type="slidenum">
              <a:rPr lang="en-US" sz="1000" b="0" u="none" strike="noStrike">
                <a:solidFill>
                  <a:srgbClr val="5B6472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 0"/>
          <p:cNvSpPr/>
          <p:nvPr/>
        </p:nvSpPr>
        <p:spPr>
          <a:xfrm>
            <a:off x="502920" y="347400"/>
            <a:ext cx="11155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E7 — Recuperação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2"/>
          <p:cNvSpPr/>
          <p:nvPr/>
        </p:nvSpPr>
        <p:spPr>
          <a:xfrm>
            <a:off x="502920" y="1737360"/>
            <a:ext cx="3565800" cy="1371240"/>
          </a:xfrm>
          <a:prstGeom prst="roundRect">
            <a:avLst>
              <a:gd name="adj" fmla="val 5333"/>
            </a:avLst>
          </a:prstGeom>
          <a:solidFill>
            <a:srgbClr val="F2F5FB"/>
          </a:solidFill>
          <a:ln w="12700">
            <a:solidFill>
              <a:srgbClr val="D5DE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3"/>
          <p:cNvSpPr/>
          <p:nvPr/>
        </p:nvSpPr>
        <p:spPr>
          <a:xfrm>
            <a:off x="594360" y="1847160"/>
            <a:ext cx="338292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≈ 11 ms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4"/>
          <p:cNvSpPr/>
          <p:nvPr/>
        </p:nvSpPr>
        <p:spPr>
          <a:xfrm>
            <a:off x="612720" y="2560320"/>
            <a:ext cx="3346200" cy="4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472"/>
                </a:solidFill>
                <a:effectLst/>
                <a:uFillTx/>
                <a:latin typeface="Calibri"/>
                <a:ea typeface="Calibri"/>
              </a:rPr>
              <a:t>snapshot do banco (2,2 MB) transferido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5"/>
          <p:cNvSpPr/>
          <p:nvPr/>
        </p:nvSpPr>
        <p:spPr>
          <a:xfrm>
            <a:off x="4251960" y="1737360"/>
            <a:ext cx="3565800" cy="1371240"/>
          </a:xfrm>
          <a:prstGeom prst="roundRect">
            <a:avLst>
              <a:gd name="adj" fmla="val 5333"/>
            </a:avLst>
          </a:prstGeom>
          <a:solidFill>
            <a:srgbClr val="F2F5FB"/>
          </a:solidFill>
          <a:ln w="12700">
            <a:solidFill>
              <a:srgbClr val="D5DE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6"/>
          <p:cNvSpPr/>
          <p:nvPr/>
        </p:nvSpPr>
        <p:spPr>
          <a:xfrm>
            <a:off x="4343400" y="1847160"/>
            <a:ext cx="3382920" cy="71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hashkv =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7"/>
          <p:cNvSpPr/>
          <p:nvPr/>
        </p:nvSpPr>
        <p:spPr>
          <a:xfrm>
            <a:off x="4361760" y="2560320"/>
            <a:ext cx="3346200" cy="46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5B6472"/>
                </a:solidFill>
                <a:effectLst/>
                <a:uFillTx/>
                <a:latin typeface="Calibri"/>
                <a:ea typeface="Calibri"/>
              </a:rPr>
              <a:t>estado final idêntico nas 3 réplicas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8"/>
          <p:cNvSpPr/>
          <p:nvPr/>
        </p:nvSpPr>
        <p:spPr>
          <a:xfrm>
            <a:off x="8001000" y="1737360"/>
            <a:ext cx="3565800" cy="1371240"/>
          </a:xfrm>
          <a:prstGeom prst="roundRect">
            <a:avLst>
              <a:gd name="adj" fmla="val 16667"/>
            </a:avLst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9"/>
          <p:cNvSpPr/>
          <p:nvPr/>
        </p:nvSpPr>
        <p:spPr>
          <a:xfrm>
            <a:off x="8138160" y="1874520"/>
            <a:ext cx="32914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Por log ou por snapshot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custo proporcional ao estado, não ao histórico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10"/>
          <p:cNvSpPr/>
          <p:nvPr/>
        </p:nvSpPr>
        <p:spPr>
          <a:xfrm>
            <a:off x="502920" y="3429000"/>
            <a:ext cx="11063880" cy="2285640"/>
          </a:xfrm>
          <a:prstGeom prst="roundRect">
            <a:avLst>
              <a:gd name="adj" fmla="val 3200"/>
            </a:avLst>
          </a:prstGeom>
          <a:solidFill>
            <a:srgbClr val="FBF1DF"/>
          </a:solidFill>
          <a:ln w="19050">
            <a:solidFill>
              <a:srgbClr val="C77D1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1"/>
          <p:cNvSpPr/>
          <p:nvPr/>
        </p:nvSpPr>
        <p:spPr>
          <a:xfrm>
            <a:off x="731520" y="3566160"/>
            <a:ext cx="10606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C77D18"/>
                </a:solidFill>
                <a:effectLst/>
                <a:uFillTx/>
                <a:latin typeface="Calibri"/>
                <a:ea typeface="Calibri"/>
              </a:rPr>
              <a:t>Achado além da previsão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2"/>
          <p:cNvSpPr/>
          <p:nvPr/>
        </p:nvSpPr>
        <p:spPr>
          <a:xfrm>
            <a:off x="731520" y="3977640"/>
            <a:ext cx="1060668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1A2230"/>
                </a:solidFill>
                <a:effectLst/>
                <a:uFillTx/>
                <a:latin typeface="Calibri"/>
                <a:ea typeface="Calibri"/>
              </a:rPr>
              <a:t>Após uma partição, o tempo de recuperação segue o backoff de retransmissão do TCP (dente de serra), e não o Raft. É um exemplo concreto de que a detecção de falhas depende de todas as camadas do sistema — e do modo como a partição foi provocada.</a:t>
            </a:r>
            <a:endParaRPr lang="pt-BR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1"/>
          <p:cNvSpPr>
            <a:spLocks noGrp="1"/>
          </p:cNvSpPr>
          <p:nvPr>
            <p:ph type="sldNum" idx="12"/>
          </p:nvPr>
        </p:nvSpPr>
        <p:spPr>
          <a:xfrm>
            <a:off x="116128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5B6472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D0B579-3993-4B2F-8184-A77E602C6550}" type="slidenum">
              <a:rPr lang="en-US" sz="1000" b="0" u="none" strike="noStrike">
                <a:solidFill>
                  <a:srgbClr val="5B6472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 0"/>
          <p:cNvSpPr/>
          <p:nvPr/>
        </p:nvSpPr>
        <p:spPr>
          <a:xfrm>
            <a:off x="502920" y="347400"/>
            <a:ext cx="11155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Ênfase B — Travas, leases e fencing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2"/>
          <p:cNvSpPr/>
          <p:nvPr/>
        </p:nvSpPr>
        <p:spPr>
          <a:xfrm>
            <a:off x="502920" y="1645920"/>
            <a:ext cx="5486040" cy="4114440"/>
          </a:xfrm>
          <a:prstGeom prst="roundRect">
            <a:avLst>
              <a:gd name="adj" fmla="val 1778"/>
            </a:avLst>
          </a:prstGeom>
          <a:solidFill>
            <a:srgbClr val="FBEDEA"/>
          </a:solidFill>
          <a:ln w="1524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3"/>
          <p:cNvSpPr/>
          <p:nvPr/>
        </p:nvSpPr>
        <p:spPr>
          <a:xfrm>
            <a:off x="731520" y="178308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C0392B"/>
                </a:solidFill>
                <a:effectLst/>
                <a:uFillTx/>
                <a:latin typeface="Calibri"/>
                <a:ea typeface="Calibri"/>
              </a:rPr>
              <a:t>O problema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4"/>
          <p:cNvSpPr/>
          <p:nvPr/>
        </p:nvSpPr>
        <p:spPr>
          <a:xfrm>
            <a:off x="731520" y="2194560"/>
            <a:ext cx="502884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A223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A2230"/>
                </a:solidFill>
                <a:effectLst/>
                <a:uFillTx/>
                <a:latin typeface="Calibri"/>
                <a:ea typeface="Calibri"/>
              </a:rPr>
              <a:t>A trava usa um lease com TTL; se o dono para de renovar, o lease vence.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A223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A2230"/>
                </a:solidFill>
                <a:effectLst/>
                <a:uFillTx/>
                <a:latin typeface="Calibri"/>
                <a:ea typeface="Calibri"/>
              </a:rPr>
              <a:t>Numa pausa longa (GC, VM congelada, swap), o dono é só "parado", não morto.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A223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A2230"/>
                </a:solidFill>
                <a:effectLst/>
                <a:uFillTx/>
                <a:latin typeface="Calibri"/>
                <a:ea typeface="Calibri"/>
              </a:rPr>
              <a:t>O lease vence, outro worker assume e, ao acordar, o antigo grava sobre dados novos.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A223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A2230"/>
                </a:solidFill>
                <a:effectLst/>
                <a:uFillTx/>
                <a:latin typeface="Calibri"/>
                <a:ea typeface="Calibri"/>
              </a:rPr>
              <a:t>Verificar o lease antes de gravar não resolve: a pausa cabe entre verificar e gravar.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5"/>
          <p:cNvSpPr/>
          <p:nvPr/>
        </p:nvSpPr>
        <p:spPr>
          <a:xfrm>
            <a:off x="6217920" y="1645920"/>
            <a:ext cx="5486040" cy="4114440"/>
          </a:xfrm>
          <a:prstGeom prst="roundRect">
            <a:avLst>
              <a:gd name="adj" fmla="val 1778"/>
            </a:avLst>
          </a:prstGeom>
          <a:solidFill>
            <a:srgbClr val="E9F4EF"/>
          </a:solidFill>
          <a:ln w="15240">
            <a:solidFill>
              <a:srgbClr val="1E8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6"/>
          <p:cNvSpPr/>
          <p:nvPr/>
        </p:nvSpPr>
        <p:spPr>
          <a:xfrm>
            <a:off x="6446520" y="178308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E8E6E"/>
                </a:solidFill>
                <a:effectLst/>
                <a:uFillTx/>
                <a:latin typeface="Calibri"/>
                <a:ea typeface="Calibri"/>
              </a:rPr>
              <a:t>A correção: fencing token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7"/>
          <p:cNvSpPr/>
          <p:nvPr/>
        </p:nvSpPr>
        <p:spPr>
          <a:xfrm>
            <a:off x="6446520" y="2194560"/>
            <a:ext cx="5028840" cy="33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A223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A2230"/>
                </a:solidFill>
                <a:effectLst/>
                <a:uFillTx/>
                <a:latin typeface="Calibri"/>
                <a:ea typeface="Calibri"/>
              </a:rPr>
              <a:t>Cada concessão traz um número estritamente crescente.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A223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A2230"/>
                </a:solidFill>
                <a:effectLst/>
                <a:uFillTx/>
                <a:latin typeface="Calibri"/>
                <a:ea typeface="Calibri"/>
              </a:rPr>
              <a:t>No etcd: a revisão de criação da chave da trava (ETCD_LOCK_REV).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A223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A2230"/>
                </a:solidFill>
                <a:effectLst/>
                <a:uFillTx/>
                <a:latin typeface="Calibri"/>
                <a:ea typeface="Calibri"/>
              </a:rPr>
              <a:t>O cliente envia o token em cada escrita.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3040" indent="-203040" defTabSz="914400">
              <a:lnSpc>
                <a:spcPct val="100000"/>
              </a:lnSpc>
              <a:spcAft>
                <a:spcPts val="901"/>
              </a:spcAft>
              <a:buClr>
                <a:srgbClr val="1A2230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1A2230"/>
                </a:solidFill>
                <a:effectLst/>
                <a:uFillTx/>
                <a:latin typeface="Calibri"/>
                <a:ea typeface="Calibri"/>
              </a:rPr>
              <a:t>O recurso guarda o maior token visto e rejeita os menores — a decisão fica com quem vê a ordem real.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1"/>
          <p:cNvSpPr>
            <a:spLocks noGrp="1"/>
          </p:cNvSpPr>
          <p:nvPr>
            <p:ph type="sldNum" idx="13"/>
          </p:nvPr>
        </p:nvSpPr>
        <p:spPr>
          <a:xfrm>
            <a:off x="116128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5B6472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607381-D816-47BA-ADE4-07BE83307826}" type="slidenum">
              <a:rPr lang="en-US" sz="1000" b="0" u="none" strike="noStrike">
                <a:solidFill>
                  <a:srgbClr val="5B6472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 0"/>
          <p:cNvSpPr/>
          <p:nvPr/>
        </p:nvSpPr>
        <p:spPr>
          <a:xfrm>
            <a:off x="502920" y="347400"/>
            <a:ext cx="11155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Ênfase B — Resultado (E9)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1" name="Image 0" descr="/mnt/user-data/uploads/Trabalho2/relatorio/figuras/fig4_timeline_enfase_b.png"/>
          <p:cNvPicPr/>
          <p:nvPr/>
        </p:nvPicPr>
        <p:blipFill>
          <a:blip r:embed="rId1"/>
          <a:stretch/>
        </p:blipFill>
        <p:spPr>
          <a:xfrm>
            <a:off x="4160520" y="1554480"/>
            <a:ext cx="7589160" cy="487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Shape 2"/>
          <p:cNvSpPr/>
          <p:nvPr/>
        </p:nvSpPr>
        <p:spPr>
          <a:xfrm>
            <a:off x="502920" y="1920240"/>
            <a:ext cx="3382920" cy="1554120"/>
          </a:xfrm>
          <a:prstGeom prst="roundRect">
            <a:avLst>
              <a:gd name="adj" fmla="val 4706"/>
            </a:avLst>
          </a:prstGeom>
          <a:solidFill>
            <a:srgbClr val="FBEDEA"/>
          </a:solidFill>
          <a:ln w="15240">
            <a:solidFill>
              <a:srgbClr val="C039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3"/>
          <p:cNvSpPr/>
          <p:nvPr/>
        </p:nvSpPr>
        <p:spPr>
          <a:xfrm>
            <a:off x="548640" y="2057400"/>
            <a:ext cx="32914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r>
              <a:rPr lang="en-US" sz="3400" b="1" u="none" strike="noStrike">
                <a:solidFill>
                  <a:srgbClr val="C0392B"/>
                </a:solidFill>
                <a:effectLst/>
                <a:uFillTx/>
                <a:latin typeface="Cambria"/>
                <a:ea typeface="Cambria"/>
              </a:rPr>
              <a:t>5/5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A2230"/>
                </a:solidFill>
                <a:effectLst/>
                <a:uFillTx/>
                <a:latin typeface="Calibri"/>
                <a:ea typeface="Calibri"/>
              </a:rPr>
              <a:t>violações sem fencing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4"/>
          <p:cNvSpPr/>
          <p:nvPr/>
        </p:nvSpPr>
        <p:spPr>
          <a:xfrm>
            <a:off x="502920" y="3657600"/>
            <a:ext cx="3382920" cy="1554120"/>
          </a:xfrm>
          <a:prstGeom prst="roundRect">
            <a:avLst>
              <a:gd name="adj" fmla="val 4706"/>
            </a:avLst>
          </a:prstGeom>
          <a:solidFill>
            <a:srgbClr val="E9F4EF"/>
          </a:solidFill>
          <a:ln w="15240">
            <a:solidFill>
              <a:srgbClr val="1E8E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5"/>
          <p:cNvSpPr/>
          <p:nvPr/>
        </p:nvSpPr>
        <p:spPr>
          <a:xfrm>
            <a:off x="548640" y="3794760"/>
            <a:ext cx="329148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/>
            <a:r>
              <a:rPr lang="en-US" sz="3400" b="1" u="none" strike="noStrike">
                <a:solidFill>
                  <a:srgbClr val="1E8E6E"/>
                </a:solidFill>
                <a:effectLst/>
                <a:uFillTx/>
                <a:latin typeface="Cambria"/>
                <a:ea typeface="Cambria"/>
              </a:rPr>
              <a:t>5/5</a:t>
            </a: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pt-BR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A2230"/>
                </a:solidFill>
                <a:effectLst/>
                <a:uFillTx/>
                <a:latin typeface="Calibri"/>
                <a:ea typeface="Calibri"/>
              </a:rPr>
              <a:t>escritas atrasadas rejeitadas com fencing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1"/>
          <p:cNvSpPr>
            <a:spLocks noGrp="1"/>
          </p:cNvSpPr>
          <p:nvPr>
            <p:ph type="sldNum" idx="14"/>
          </p:nvPr>
        </p:nvSpPr>
        <p:spPr>
          <a:xfrm>
            <a:off x="116128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5B6472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2A2682-C649-4921-9E50-9224206A52A9}" type="slidenum">
              <a:rPr lang="en-US" sz="1000" b="0" u="none" strike="noStrike">
                <a:solidFill>
                  <a:srgbClr val="5B6472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ext 0"/>
          <p:cNvSpPr/>
          <p:nvPr/>
        </p:nvSpPr>
        <p:spPr>
          <a:xfrm>
            <a:off x="502920" y="347400"/>
            <a:ext cx="111553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Quadro-síntese do etcd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8" name="Table 0"/>
          <p:cNvGraphicFramePr/>
          <p:nvPr/>
        </p:nvGraphicFramePr>
        <p:xfrm>
          <a:off x="640080" y="1645920"/>
          <a:ext cx="10926720" cy="3840480"/>
        </p:xfrm>
        <a:graphic>
          <a:graphicData uri="http://schemas.openxmlformats.org/drawingml/2006/table">
            <a:tbl>
              <a:tblPr/>
              <a:tblGrid>
                <a:gridCol w="3108960"/>
                <a:gridCol w="7818120"/>
              </a:tblGrid>
              <a:tr h="548640">
                <a:tc>
                  <a:txBody>
                    <a:bodyPr lIns="75960" tIns="25200" rIns="759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Aspecto</a:t>
                      </a:r>
                      <a:endParaRPr lang="pt-BR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25200" marB="25200">
                    <a:lnL w="12240">
                      <a:solidFill>
                        <a:srgbClr val="D5DEEF"/>
                      </a:solidFill>
                      <a:prstDash val="solid"/>
                    </a:lnL>
                    <a:lnR w="12240">
                      <a:solidFill>
                        <a:srgbClr val="D5DEEF"/>
                      </a:solidFill>
                      <a:prstDash val="solid"/>
                    </a:lnR>
                    <a:lnT w="12240">
                      <a:solidFill>
                        <a:srgbClr val="D5DEEF"/>
                      </a:solidFill>
                      <a:prstDash val="solid"/>
                    </a:lnT>
                    <a:lnB w="12240">
                      <a:solidFill>
                        <a:srgbClr val="D5DEEF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lIns="75960" tIns="25200" rIns="759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etcd (com evidência)</a:t>
                      </a:r>
                      <a:endParaRPr lang="pt-BR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25200" marB="25200">
                    <a:lnL w="12240">
                      <a:solidFill>
                        <a:srgbClr val="D5DEEF"/>
                      </a:solidFill>
                      <a:prstDash val="solid"/>
                    </a:lnL>
                    <a:lnR w="12240">
                      <a:solidFill>
                        <a:srgbClr val="D5DEEF"/>
                      </a:solidFill>
                      <a:prstDash val="solid"/>
                    </a:lnR>
                    <a:lnT w="12240">
                      <a:solidFill>
                        <a:srgbClr val="D5DEEF"/>
                      </a:solidFill>
                      <a:prstDash val="solid"/>
                    </a:lnT>
                    <a:lnB w="12240">
                      <a:solidFill>
                        <a:srgbClr val="D5DEEF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 lIns="75960" tIns="25200" rIns="759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rgbClr val="1E276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Consistência</a:t>
                      </a:r>
                      <a:endParaRPr lang="pt-B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25200" marB="25200">
                    <a:lnL w="12240">
                      <a:solidFill>
                        <a:srgbClr val="D5DEEF"/>
                      </a:solidFill>
                      <a:prstDash val="solid"/>
                    </a:lnL>
                    <a:lnR w="12240">
                      <a:solidFill>
                        <a:srgbClr val="D5DEEF"/>
                      </a:solidFill>
                      <a:prstDash val="solid"/>
                    </a:lnR>
                    <a:lnT w="12240">
                      <a:solidFill>
                        <a:srgbClr val="D5DEEF"/>
                      </a:solidFill>
                      <a:prstDash val="solid"/>
                    </a:lnT>
                    <a:lnB w="12240">
                      <a:solidFill>
                        <a:srgbClr val="D5DEEF"/>
                      </a:solidFill>
                      <a:prstDash val="soli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 lIns="75960" tIns="25200" rIns="759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1A223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Linearizável (padrão); serializável opcional (E4)</a:t>
                      </a:r>
                      <a:endParaRPr lang="pt-B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25200" marB="25200">
                    <a:lnL w="12240">
                      <a:solidFill>
                        <a:srgbClr val="D5DEEF"/>
                      </a:solidFill>
                      <a:prstDash val="solid"/>
                    </a:lnL>
                    <a:lnR w="12240">
                      <a:solidFill>
                        <a:srgbClr val="D5DEEF"/>
                      </a:solidFill>
                      <a:prstDash val="solid"/>
                    </a:lnR>
                    <a:lnT w="12240">
                      <a:solidFill>
                        <a:srgbClr val="D5DEEF"/>
                      </a:solidFill>
                      <a:prstDash val="solid"/>
                    </a:lnT>
                    <a:lnB w="12240">
                      <a:solidFill>
                        <a:srgbClr val="D5DEEF"/>
                      </a:solidFill>
                      <a:prstDash val="solid"/>
                    </a:lnB>
                    <a:noFill/>
                  </a:tcPr>
                </a:tc>
              </a:tr>
              <a:tr h="548640">
                <a:tc>
                  <a:txBody>
                    <a:bodyPr lIns="75960" tIns="25200" rIns="759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rgbClr val="1E276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Quórum e falhas</a:t>
                      </a:r>
                      <a:endParaRPr lang="pt-B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25200" marB="25200">
                    <a:lnL w="12240">
                      <a:solidFill>
                        <a:srgbClr val="D5DEEF"/>
                      </a:solidFill>
                      <a:prstDash val="solid"/>
                    </a:lnL>
                    <a:lnR w="12240">
                      <a:solidFill>
                        <a:srgbClr val="D5DEEF"/>
                      </a:solidFill>
                      <a:prstDash val="solid"/>
                    </a:lnR>
                    <a:lnT w="12240">
                      <a:solidFill>
                        <a:srgbClr val="D5DEEF"/>
                      </a:solidFill>
                      <a:prstDash val="solid"/>
                    </a:lnT>
                    <a:lnB w="12240">
                      <a:solidFill>
                        <a:srgbClr val="D5DEEF"/>
                      </a:solidFill>
                      <a:prstDash val="soli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 lIns="75960" tIns="25200" rIns="759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1A223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N=3, W=2, R=2 (R+W&gt;N); tolera f=1 (E5, E7)</a:t>
                      </a:r>
                      <a:endParaRPr lang="pt-B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25200" marB="25200">
                    <a:lnL w="12240">
                      <a:solidFill>
                        <a:srgbClr val="D5DEEF"/>
                      </a:solidFill>
                      <a:prstDash val="solid"/>
                    </a:lnL>
                    <a:lnR w="12240">
                      <a:solidFill>
                        <a:srgbClr val="D5DEEF"/>
                      </a:solidFill>
                      <a:prstDash val="solid"/>
                    </a:lnR>
                    <a:lnT w="12240">
                      <a:solidFill>
                        <a:srgbClr val="D5DEEF"/>
                      </a:solidFill>
                      <a:prstDash val="solid"/>
                    </a:lnT>
                    <a:lnB w="12240">
                      <a:solidFill>
                        <a:srgbClr val="D5DEEF"/>
                      </a:solidFill>
                      <a:prstDash val="solid"/>
                    </a:lnB>
                    <a:noFill/>
                  </a:tcPr>
                </a:tc>
              </a:tr>
              <a:tr h="548640">
                <a:tc>
                  <a:txBody>
                    <a:bodyPr lIns="75960" tIns="25200" rIns="759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rgbClr val="1E276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Líder / eleição</a:t>
                      </a:r>
                      <a:endParaRPr lang="pt-B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25200" marB="25200">
                    <a:lnL w="12240">
                      <a:solidFill>
                        <a:srgbClr val="D5DEEF"/>
                      </a:solidFill>
                      <a:prstDash val="solid"/>
                    </a:lnL>
                    <a:lnR w="12240">
                      <a:solidFill>
                        <a:srgbClr val="D5DEEF"/>
                      </a:solidFill>
                      <a:prstDash val="solid"/>
                    </a:lnR>
                    <a:lnT w="12240">
                      <a:solidFill>
                        <a:srgbClr val="D5DEEF"/>
                      </a:solidFill>
                      <a:prstDash val="solid"/>
                    </a:lnT>
                    <a:lnB w="12240">
                      <a:solidFill>
                        <a:srgbClr val="D5DEEF"/>
                      </a:solidFill>
                      <a:prstDash val="soli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 lIns="75960" tIns="25200" rIns="759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1A223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Raft: maioria + timeout aleatório; 1216 ms (E5)</a:t>
                      </a:r>
                      <a:endParaRPr lang="pt-B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25200" marB="25200">
                    <a:lnL w="12240">
                      <a:solidFill>
                        <a:srgbClr val="D5DEEF"/>
                      </a:solidFill>
                      <a:prstDash val="solid"/>
                    </a:lnL>
                    <a:lnR w="12240">
                      <a:solidFill>
                        <a:srgbClr val="D5DEEF"/>
                      </a:solidFill>
                      <a:prstDash val="solid"/>
                    </a:lnR>
                    <a:lnT w="12240">
                      <a:solidFill>
                        <a:srgbClr val="D5DEEF"/>
                      </a:solidFill>
                      <a:prstDash val="solid"/>
                    </a:lnT>
                    <a:lnB w="12240">
                      <a:solidFill>
                        <a:srgbClr val="D5DEEF"/>
                      </a:solidFill>
                      <a:prstDash val="solid"/>
                    </a:lnB>
                    <a:noFill/>
                  </a:tcPr>
                </a:tc>
              </a:tr>
              <a:tr h="548640">
                <a:tc>
                  <a:txBody>
                    <a:bodyPr lIns="75960" tIns="25200" rIns="759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rgbClr val="1E276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Ordenação</a:t>
                      </a:r>
                      <a:endParaRPr lang="pt-B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25200" marB="25200">
                    <a:lnL w="12240">
                      <a:solidFill>
                        <a:srgbClr val="D5DEEF"/>
                      </a:solidFill>
                      <a:prstDash val="solid"/>
                    </a:lnL>
                    <a:lnR w="12240">
                      <a:solidFill>
                        <a:srgbClr val="D5DEEF"/>
                      </a:solidFill>
                      <a:prstDash val="solid"/>
                    </a:lnR>
                    <a:lnT w="12240">
                      <a:solidFill>
                        <a:srgbClr val="D5DEEF"/>
                      </a:solidFill>
                      <a:prstDash val="solid"/>
                    </a:lnT>
                    <a:lnB w="12240">
                      <a:solidFill>
                        <a:srgbClr val="D5DEEF"/>
                      </a:solidFill>
                      <a:prstDash val="soli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 lIns="75960" tIns="25200" rIns="759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1A223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Termo (época) e revisão (ordem total) (E8)</a:t>
                      </a:r>
                      <a:endParaRPr lang="pt-B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25200" marB="25200">
                    <a:lnL w="12240">
                      <a:solidFill>
                        <a:srgbClr val="D5DEEF"/>
                      </a:solidFill>
                      <a:prstDash val="solid"/>
                    </a:lnL>
                    <a:lnR w="12240">
                      <a:solidFill>
                        <a:srgbClr val="D5DEEF"/>
                      </a:solidFill>
                      <a:prstDash val="solid"/>
                    </a:lnR>
                    <a:lnT w="12240">
                      <a:solidFill>
                        <a:srgbClr val="D5DEEF"/>
                      </a:solidFill>
                      <a:prstDash val="solid"/>
                    </a:lnT>
                    <a:lnB w="12240">
                      <a:solidFill>
                        <a:srgbClr val="D5DEEF"/>
                      </a:solidFill>
                      <a:prstDash val="solid"/>
                    </a:lnB>
                    <a:noFill/>
                  </a:tcPr>
                </a:tc>
              </a:tr>
              <a:tr h="548640">
                <a:tc>
                  <a:txBody>
                    <a:bodyPr lIns="75960" tIns="25200" rIns="759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rgbClr val="1E276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Partição</a:t>
                      </a:r>
                      <a:endParaRPr lang="pt-B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25200" marB="25200">
                    <a:lnL w="12240">
                      <a:solidFill>
                        <a:srgbClr val="D5DEEF"/>
                      </a:solidFill>
                      <a:prstDash val="solid"/>
                    </a:lnL>
                    <a:lnR w="12240">
                      <a:solidFill>
                        <a:srgbClr val="D5DEEF"/>
                      </a:solidFill>
                      <a:prstDash val="solid"/>
                    </a:lnR>
                    <a:lnT w="12240">
                      <a:solidFill>
                        <a:srgbClr val="D5DEEF"/>
                      </a:solidFill>
                      <a:prstDash val="solid"/>
                    </a:lnT>
                    <a:lnB w="12240">
                      <a:solidFill>
                        <a:srgbClr val="D5DEEF"/>
                      </a:solidFill>
                      <a:prstDash val="soli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 lIns="75960" tIns="25200" rIns="759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1A223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CP — consistência sobre disponibilidade (E6)</a:t>
                      </a:r>
                      <a:endParaRPr lang="pt-B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25200" marB="25200">
                    <a:lnL w="12240">
                      <a:solidFill>
                        <a:srgbClr val="D5DEEF"/>
                      </a:solidFill>
                      <a:prstDash val="solid"/>
                    </a:lnL>
                    <a:lnR w="12240">
                      <a:solidFill>
                        <a:srgbClr val="D5DEEF"/>
                      </a:solidFill>
                      <a:prstDash val="solid"/>
                    </a:lnR>
                    <a:lnT w="12240">
                      <a:solidFill>
                        <a:srgbClr val="D5DEEF"/>
                      </a:solidFill>
                      <a:prstDash val="solid"/>
                    </a:lnT>
                    <a:lnB w="12240">
                      <a:solidFill>
                        <a:srgbClr val="D5DEEF"/>
                      </a:solidFill>
                      <a:prstDash val="solid"/>
                    </a:lnB>
                    <a:noFill/>
                  </a:tcPr>
                </a:tc>
              </a:tr>
              <a:tr h="548640">
                <a:tc>
                  <a:txBody>
                    <a:bodyPr lIns="75960" tIns="25200" rIns="759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rgbClr val="1E2761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Recuperação</a:t>
                      </a:r>
                      <a:endParaRPr lang="pt-B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25200" marB="25200">
                    <a:lnL w="12240">
                      <a:solidFill>
                        <a:srgbClr val="D5DEEF"/>
                      </a:solidFill>
                      <a:prstDash val="solid"/>
                    </a:lnL>
                    <a:lnR w="12240">
                      <a:solidFill>
                        <a:srgbClr val="D5DEEF"/>
                      </a:solidFill>
                      <a:prstDash val="solid"/>
                    </a:lnR>
                    <a:lnT w="12240">
                      <a:solidFill>
                        <a:srgbClr val="D5DEEF"/>
                      </a:solidFill>
                      <a:prstDash val="solid"/>
                    </a:lnT>
                    <a:lnB w="12240">
                      <a:solidFill>
                        <a:srgbClr val="D5DEEF"/>
                      </a:solidFill>
                      <a:prstDash val="soli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 lIns="75960" tIns="25200" rIns="75960" bIns="2520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0" u="none" strike="noStrike">
                          <a:solidFill>
                            <a:srgbClr val="1A2230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Log incremental ou snapshot (E7, E7b)</a:t>
                      </a:r>
                      <a:endParaRPr lang="pt-BR" sz="15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5960" marR="75960" marT="25200" marB="25200">
                    <a:lnL w="12240">
                      <a:solidFill>
                        <a:srgbClr val="D5DEEF"/>
                      </a:solidFill>
                      <a:prstDash val="solid"/>
                    </a:lnL>
                    <a:lnR w="12240">
                      <a:solidFill>
                        <a:srgbClr val="D5DEEF"/>
                      </a:solidFill>
                      <a:prstDash val="solid"/>
                    </a:lnR>
                    <a:lnT w="12240">
                      <a:solidFill>
                        <a:srgbClr val="D5DEEF"/>
                      </a:solidFill>
                      <a:prstDash val="solid"/>
                    </a:lnT>
                    <a:lnB w="12240">
                      <a:solidFill>
                        <a:srgbClr val="D5DEEF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9" name="PlaceHolder 1"/>
          <p:cNvSpPr>
            <a:spLocks noGrp="1"/>
          </p:cNvSpPr>
          <p:nvPr>
            <p:ph type="sldNum" idx="15"/>
          </p:nvPr>
        </p:nvSpPr>
        <p:spPr>
          <a:xfrm>
            <a:off x="11612880" y="6446520"/>
            <a:ext cx="456840" cy="27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000" b="0" u="none" strike="noStrike">
                <a:solidFill>
                  <a:srgbClr val="5B6472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BECD98F-856B-4A75-AA04-A014E245CF80}" type="slidenum">
              <a:rPr lang="en-US" sz="1000" b="0" u="none" strike="noStrike">
                <a:solidFill>
                  <a:srgbClr val="5B6472"/>
                </a:solidFill>
                <a:effectLst/>
                <a:uFillTx/>
                <a:latin typeface="Calibri"/>
                <a:ea typeface="Calibri"/>
              </a:rPr>
              <a:t>&lt;número&gt;</a:t>
            </a:fld>
            <a:endParaRPr lang="pt-BR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 0"/>
          <p:cNvSpPr/>
          <p:nvPr/>
        </p:nvSpPr>
        <p:spPr>
          <a:xfrm>
            <a:off x="731520" y="685800"/>
            <a:ext cx="106981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Conclusões</a:t>
            </a:r>
            <a:endParaRPr lang="pt-BR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1"/>
          <p:cNvSpPr/>
          <p:nvPr/>
        </p:nvSpPr>
        <p:spPr>
          <a:xfrm>
            <a:off x="731520" y="1783080"/>
            <a:ext cx="456840" cy="456840"/>
          </a:xfrm>
          <a:prstGeom prst="ellipse">
            <a:avLst/>
          </a:prstGeom>
          <a:solidFill>
            <a:srgbClr val="2E6B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2"/>
          <p:cNvSpPr/>
          <p:nvPr/>
        </p:nvSpPr>
        <p:spPr>
          <a:xfrm>
            <a:off x="731520" y="178308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1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3"/>
          <p:cNvSpPr/>
          <p:nvPr/>
        </p:nvSpPr>
        <p:spPr>
          <a:xfrm>
            <a:off x="1417320" y="1737360"/>
            <a:ext cx="100580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r>
              <a:rPr lang="en-US" sz="1800" b="1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Consistência sobre disponibilidade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Diante de uma partição, o etcd é CP: o lado sem maioria para de aceitar escritas em vez de arriscar dados incorretos.</a:t>
            </a:r>
            <a:endParaRPr lang="pt-B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4"/>
          <p:cNvSpPr/>
          <p:nvPr/>
        </p:nvSpPr>
        <p:spPr>
          <a:xfrm>
            <a:off x="731520" y="3108960"/>
            <a:ext cx="456840" cy="456840"/>
          </a:xfrm>
          <a:prstGeom prst="ellipse">
            <a:avLst/>
          </a:prstGeom>
          <a:solidFill>
            <a:srgbClr val="2E6B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5"/>
          <p:cNvSpPr/>
          <p:nvPr/>
        </p:nvSpPr>
        <p:spPr>
          <a:xfrm>
            <a:off x="731520" y="310896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2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6"/>
          <p:cNvSpPr/>
          <p:nvPr/>
        </p:nvSpPr>
        <p:spPr>
          <a:xfrm>
            <a:off x="1417320" y="3063240"/>
            <a:ext cx="100580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r>
              <a:rPr lang="en-US" sz="1800" b="1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Trava com lease = eficiência, não correção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Sozinha, falha numa pausa longa; a correção exige um fencing token verificado pelo recurso.</a:t>
            </a:r>
            <a:endParaRPr lang="pt-B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7"/>
          <p:cNvSpPr/>
          <p:nvPr/>
        </p:nvSpPr>
        <p:spPr>
          <a:xfrm>
            <a:off x="731520" y="4434840"/>
            <a:ext cx="456840" cy="456840"/>
          </a:xfrm>
          <a:prstGeom prst="ellipse">
            <a:avLst/>
          </a:prstGeom>
          <a:solidFill>
            <a:srgbClr val="2E6BC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8"/>
          <p:cNvSpPr/>
          <p:nvPr/>
        </p:nvSpPr>
        <p:spPr>
          <a:xfrm>
            <a:off x="731520" y="44348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3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9"/>
          <p:cNvSpPr/>
          <p:nvPr/>
        </p:nvSpPr>
        <p:spPr>
          <a:xfrm>
            <a:off x="1417320" y="4389120"/>
            <a:ext cx="1005804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/>
            <a:r>
              <a:rPr lang="en-US" sz="1800" b="1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Falhas dependem de todas as camadas</a:t>
            </a: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No E7, a recuperação seguiu o backoff do TCP — o consenso não controla quando a rede volta a entregar.</a:t>
            </a:r>
            <a:endParaRPr lang="pt-B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0"/>
          <p:cNvSpPr/>
          <p:nvPr/>
        </p:nvSpPr>
        <p:spPr>
          <a:xfrm>
            <a:off x="731520" y="5897880"/>
            <a:ext cx="10698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Obrigado!</a:t>
            </a:r>
            <a:endParaRPr lang="pt-BR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 pitchFamily="0" charset="1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Application>LibreOffice/26.8.1.1$Windows_X86_64 LibreOffice_project/bf6ef2662401c7d6dce671ab4deb26ee0af3a7c1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2026-10-28T01:05:21Z</dcterms:created>
  <dc:creator>Equipe etcd v3.5.17 enfase-b</dc:creator>
  <dc:description/>
  <dc:language>pt-BR</dc:language>
  <cp:lastModifiedBy/>
  <dcterms:modified xsi:type="dcterms:W3CDTF">2026-10-28T20:10:39Z</dcterms:modified>
  <cp:revision>2</cp:revision>
  <dc:subject>PptxGenJS Presentation</dc:subject>
  <dc:title>Trabalho 2 - T5 etcd - Enfase B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14</vt:i4>
  </property>
  <property fmtid="{D5CDD505-2E9C-101B-9397-08002B2CF9AE}" pid="3" name="PresentationFormat">
    <vt:lpwstr>On-screen Show (16:9)</vt:lpwstr>
  </property>
  <property fmtid="{D5CDD505-2E9C-101B-9397-08002B2CF9AE}" pid="4" name="Slides">
    <vt:i4>14</vt:i4>
  </property>
</Properties>
</file>